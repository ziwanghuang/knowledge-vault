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4" r:id="rId17"/>
    <p:sldId id="285" r:id="rId18"/>
    <p:sldId id="271" r:id="rId19"/>
    <p:sldId id="272" r:id="rId20"/>
    <p:sldId id="273" r:id="rId21"/>
    <p:sldId id="274" r:id="rId22"/>
    <p:sldId id="275" r:id="rId23"/>
    <p:sldId id="276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02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884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052D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0052D9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227177" y="1192134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HDFS 联邦开发看</a:t>
            </a:r>
            <a:endParaRPr lang="en-US" sz="4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编程助手的落地实践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227177" y="347813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CodeBuddy 在复杂项目中的实战经验分享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27177" y="4301094"/>
            <a:ext cx="2286000" cy="36576"/>
          </a:xfrm>
          <a:prstGeom prst="rect">
            <a:avLst/>
          </a:prstGeom>
          <a:solidFill>
            <a:srgbClr val="0060F0"/>
          </a:solidFill>
          <a:ln/>
        </p:spPr>
      </p:sp>
      <p:sp>
        <p:nvSpPr>
          <p:cNvPr id="7" name="Text 5"/>
          <p:cNvSpPr/>
          <p:nvPr/>
        </p:nvSpPr>
        <p:spPr>
          <a:xfrm>
            <a:off x="1432276" y="461199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 err="1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分享人：ziwanghuang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分享时间：2026年4月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开场与项目背景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需求概览与项目成果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2651760"/>
            <a:ext cx="8686800" cy="0"/>
          </a:xfrm>
          <a:prstGeom prst="line">
            <a:avLst/>
          </a:prstGeom>
          <a:noFill/>
          <a:ln w="6350">
            <a:solidFill>
              <a:srgbClr val="E0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8346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1168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完整开发流程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0116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7个阶段的AI实战应用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3840480"/>
            <a:ext cx="8686800" cy="0"/>
          </a:xfrm>
          <a:prstGeom prst="line">
            <a:avLst/>
          </a:prstGeom>
          <a:noFill/>
          <a:ln w="6350">
            <a:solidFill>
              <a:srgbClr val="E0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0233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011680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四个核心能力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定义问题·管理上下文·掌控过程·把关质量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011680" y="5029200"/>
            <a:ext cx="8686800" cy="0"/>
          </a:xfrm>
          <a:prstGeom prst="line">
            <a:avLst/>
          </a:prstGeom>
          <a:noFill/>
          <a:ln w="6350">
            <a:solidFill>
              <a:srgbClr val="E0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2120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011680" y="5212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落地行动指南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01168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你回去可以马上做的事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一、开场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10698480" cy="109728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188720"/>
            <a:ext cx="54864" cy="10972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2344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你有没有接到过一个需求，需求文档看起来也不算很长，你心想"这能有多复杂"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——结果一上手才发现，水面下藏着一座冰山？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联邦场景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7180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Text 12"/>
          <p:cNvSpPr/>
          <p:nvPr/>
        </p:nvSpPr>
        <p:spPr>
          <a:xfrm>
            <a:off x="297180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97180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核心接口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Text 15"/>
          <p:cNvSpPr/>
          <p:nvPr/>
        </p:nvSpPr>
        <p:spPr>
          <a:xfrm>
            <a:off x="521208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21208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5236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5236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2.5万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745236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代码改动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92640" y="265176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9264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69264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完成全流程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四个核心能力：</a:t>
            </a:r>
            <a:r>
              <a:rPr lang="en-US" sz="1600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①会定义问题  ②会管理上下文  ③会掌控过程  ④会把关质量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按传统方式评估至少两个多月，借助AI在20天内完成全流程，后端提测bug仅4个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项目背景速览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HDFS 联邦？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把多个集群的多个 NameService（文件仓库）统一成一个总前台，用户只需去总前台问路，不用关心文件实际存储在哪个仓库里。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108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用户请求 → Router（总前台）→ NameService → DataNode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749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联邦过程需要向多个集群的多个服务下发配置，涉及服务的启停编排、命令下发，管控流程非常复杂。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核心需求目标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583680" y="2057400"/>
            <a:ext cx="274320" cy="2743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打破联邦限制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统一联邦模型，支持集群内+集群间混合联邦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971800"/>
            <a:ext cx="274320" cy="2743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NS 与联邦解耦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3246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NameService 独立管理，可独立扩容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886200"/>
            <a:ext cx="274320" cy="2743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886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4088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完整生命周期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支持创建、加入、退出、解散联邦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0" y="4800600"/>
            <a:ext cx="274320" cy="2743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4754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Router 独立管理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40880" y="5074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跨集群部署的 Router 扩容/缩容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052D9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完整开发流程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跟着联邦项目走一遍 7 个阶段的 AI 实战应用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828800" cy="45720"/>
          </a:xfrm>
          <a:prstGeom prst="rect">
            <a:avLst/>
          </a:prstGeom>
          <a:solidFill>
            <a:srgbClr val="0060F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完整开发流程（7个阶段）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463040" cy="2560320"/>
          </a:xfrm>
          <a:prstGeom prst="rect">
            <a:avLst/>
          </a:prstGeom>
          <a:solidFill>
            <a:srgbClr val="4A90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技术快速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74520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84832" y="1645920"/>
            <a:ext cx="1463040" cy="2560320"/>
          </a:xfrm>
          <a:prstGeom prst="rect">
            <a:avLst/>
          </a:prstGeom>
          <a:solidFill>
            <a:srgbClr val="3B7DD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84832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76272" y="2560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需求理解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与拆解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02152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12464" y="1645920"/>
            <a:ext cx="1463040" cy="2560320"/>
          </a:xfrm>
          <a:prstGeom prst="rect">
            <a:avLst/>
          </a:prstGeom>
          <a:solidFill>
            <a:srgbClr val="2C6AD7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12464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803904" y="2560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现状分析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与问题发现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9784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340096" y="1645920"/>
            <a:ext cx="1463040" cy="2560320"/>
          </a:xfrm>
          <a:prstGeom prst="rect">
            <a:avLst/>
          </a:prstGeom>
          <a:solidFill>
            <a:srgbClr val="1D57D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40096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31536" y="2560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方案设计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与功能实现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57416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967728" y="1645920"/>
            <a:ext cx="1463040" cy="2560320"/>
          </a:xfrm>
          <a:prstGeom prst="rect">
            <a:avLst/>
          </a:prstGeom>
          <a:solidFill>
            <a:srgbClr val="0E44D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67728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059168" y="2560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代码实现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与质量把关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85048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595360" y="1645920"/>
            <a:ext cx="1463040" cy="2560320"/>
          </a:xfrm>
          <a:prstGeom prst="rect">
            <a:avLst/>
          </a:prstGeom>
          <a:solidFill>
            <a:srgbClr val="0052D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9536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686800" y="2560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部署验证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与问题修复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12680" y="23774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10222992" y="1645920"/>
            <a:ext cx="1463040" cy="2560320"/>
          </a:xfrm>
          <a:prstGeom prst="rect">
            <a:avLst/>
          </a:prstGeom>
          <a:solidFill>
            <a:srgbClr val="003DA5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22992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10314432" y="25603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四个核心能力贯穿全流程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31520" y="5349240"/>
            <a:ext cx="2377440" cy="411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①定义问题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474720" y="5349240"/>
            <a:ext cx="2377440" cy="4114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9" name="Text 37"/>
          <p:cNvSpPr/>
          <p:nvPr/>
        </p:nvSpPr>
        <p:spPr>
          <a:xfrm>
            <a:off x="347472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②管理上下文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5349240"/>
            <a:ext cx="2377440" cy="41148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③掌控过程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961120" y="5349240"/>
            <a:ext cx="2377440" cy="41148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43" name="Text 41"/>
          <p:cNvSpPr/>
          <p:nvPr/>
        </p:nvSpPr>
        <p:spPr>
          <a:xfrm>
            <a:off x="8961120" y="5349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④把关质量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⓪ 技术快速学习——半天入门联邦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怎么做的？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"先广后深"的学习路径：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先让AI生成总览文档，建立全局认知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再针对强相关模块深入学习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（Router、挂载表、配置体系）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结合博客与AI输出进行比对验证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05840" y="4206240"/>
            <a:ext cx="475488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学习路径的规划能力，决定了AI输出的知识质量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188720"/>
            <a:ext cx="530352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产出成果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8229600" y="2377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篇技术学习文档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 280KB，7800+ 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6576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覆盖内容：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联邦架构 · NameService · Router</a:t>
            </a:r>
            <a:endParaRPr lang="en-US" sz="13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挂载表 · 配置体系 · 部署方案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需求理解与拆解——AI帮助有限，核心靠人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10698480" cy="8229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188720"/>
            <a:ext cx="54864" cy="822960"/>
          </a:xfrm>
          <a:prstGeom prst="rect">
            <a:avLst/>
          </a:prstGeom>
          <a:solidFill>
            <a:srgbClr val="EB870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2344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在复杂场景下，需求梳理和功能拆解这些核心工作，AI能给的帮助其实是比较有限的。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最终拆解结果</a:t>
            </a:r>
            <a:r>
              <a:rPr lang="en-US" altLang="zh-CN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</a:t>
            </a:r>
            <a:r>
              <a:rPr lang="zh-CN" altLang="en-US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</a:t>
            </a:r>
            <a:r>
              <a:rPr lang="en-US" altLang="zh-CN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834640"/>
          <a:ext cx="10698480" cy="24505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拆解结果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联邦建立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15种场景（创建2 + 加入8 + 扩容5）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联邦解除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6种场景（退出4 + 关闭2）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Router 扩缩容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独立的扩容/缩容/卸载/查询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挂载表适配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联邦维度CRUD + Router前置检查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NS 独立管理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不参与联邦的独立扩容流程适配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联邦查询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联邦详情、可加入列表等多个查询接口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真实流程：我先自己想清楚 → 拆解到足够具体 → 再让AI做具体的执行工作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穿插讲解：Rules——给AI建立项目认知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303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Rules？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放在 .codebuddy/rules/ 目录下的 Markdown 文件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AI每次对话时自动加载作为背景知识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相当于给AI写了一份"项目入职手册"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5303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联邦项目 Rules 包含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192024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项目仓库与职责映射（</a:t>
            </a:r>
            <a:r>
              <a:rPr lang="en-US" altLang="zh-CN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个仓库）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核心架构和调用链路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数据模型和编码规范</a:t>
            </a:r>
            <a:endParaRPr lang="en-US" sz="14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开发注意事项（如gorm v1差异）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 Rules，效果差距巨大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97680"/>
          <a:ext cx="10698480" cy="1600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 Rules 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 Rules ✅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90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"改联邦配置渲染逻辑"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AI不知道代码在哪，需要手动指路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AI自动去 te-stacks 找代码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"实现退出联邦"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AI不知道有多种退出场景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AI知道OpType=20，按编码规范实现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"查联邦状态"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AI不知道查哪张表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AI知道查federation_group.status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一句话：Rules = 一次配置，每次对话都受益。投入产出比最高的动作。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现状分析与问题发现——AI加速梳理，人做关键决策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188720"/>
            <a:ext cx="347472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先自己体验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逐个调用现有接口和工作流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对现有功能建立初步认知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118872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1188720"/>
            <a:ext cx="347472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让AI生成文档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把已有代码全部@给AI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让它生成完整的现状描述文档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118872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1188720"/>
            <a:ext cx="347472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做出关键判断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248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从库表层、接口层、工作流层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三个层面评估现有实现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840480"/>
            <a:ext cx="10698480" cy="228600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3840480"/>
            <a:ext cx="54864" cy="2286000"/>
          </a:xfrm>
          <a:prstGeom prst="rect">
            <a:avLst/>
          </a:prstGeom>
          <a:solidFill>
            <a:srgbClr val="EB8707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92935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B87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最关键的决策：不修补，整体重新设计和实现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4453128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b="1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库表层</a:t>
            </a: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400" dirty="0">
                <a:effectLst/>
              </a:rPr>
              <a:t>缺少联邦与集群、</a:t>
            </a:r>
            <a:r>
              <a:rPr lang="en" altLang="zh-CN" sz="1400" dirty="0">
                <a:effectLst/>
                <a:latin typeface="JetBrains Mono"/>
              </a:rPr>
              <a:t>NS</a:t>
            </a:r>
            <a:r>
              <a:rPr lang="zh-CN" altLang="en" sz="1400" dirty="0">
                <a:effectLst/>
              </a:rPr>
              <a:t>、</a:t>
            </a:r>
            <a:r>
              <a:rPr lang="en" altLang="zh-CN" sz="1400" dirty="0">
                <a:effectLst/>
                <a:latin typeface="JetBrains Mono"/>
              </a:rPr>
              <a:t>Router</a:t>
            </a:r>
            <a:r>
              <a:rPr lang="zh-CN" altLang="en-US" sz="1400" dirty="0">
                <a:effectLst/>
              </a:rPr>
              <a:t>之间的关联表，现有表结构无法支撑产品需求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b="1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</a:t>
            </a:r>
            <a:r>
              <a:rPr lang="en-US" sz="14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400" dirty="0">
                <a:effectLst/>
              </a:rPr>
              <a:t>以 </a:t>
            </a:r>
            <a:r>
              <a:rPr lang="en-US" altLang="zh-CN" sz="1400" dirty="0">
                <a:effectLst/>
                <a:latin typeface="JetBrains Mono"/>
              </a:rPr>
              <a:t>`</a:t>
            </a:r>
            <a:r>
              <a:rPr lang="en" altLang="zh-CN" sz="1400" dirty="0" err="1">
                <a:effectLst/>
                <a:latin typeface="JetBrains Mono"/>
              </a:rPr>
              <a:t>CreateFederationNameService</a:t>
            </a:r>
            <a:r>
              <a:rPr lang="en" altLang="zh-CN" sz="1400" dirty="0">
                <a:effectLst/>
                <a:latin typeface="JetBrains Mono"/>
              </a:rPr>
              <a:t>` </a:t>
            </a:r>
            <a:r>
              <a:rPr lang="zh-CN" altLang="en-US" sz="1400" dirty="0">
                <a:effectLst/>
              </a:rPr>
              <a:t>为例，一个接口同时承担联邦操作和</a:t>
            </a:r>
            <a:r>
              <a:rPr lang="en" altLang="zh-CN" sz="1400" dirty="0">
                <a:effectLst/>
                <a:latin typeface="JetBrains Mono"/>
              </a:rPr>
              <a:t>Router</a:t>
            </a:r>
            <a:r>
              <a:rPr lang="zh-CN" altLang="en-US" sz="1400" dirty="0">
                <a:effectLst/>
              </a:rPr>
              <a:t>操作，职责混乱、参数含义不清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</a:t>
            </a:r>
            <a:r>
              <a:rPr lang="en-US" sz="1400" b="1" dirty="0" err="1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工作流层</a:t>
            </a:r>
            <a:r>
              <a:rPr lang="en-US" sz="14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400" dirty="0">
                <a:effectLst/>
              </a:rPr>
              <a:t>联邦操作和</a:t>
            </a:r>
            <a:r>
              <a:rPr lang="en" altLang="zh-CN" sz="1400" dirty="0">
                <a:effectLst/>
                <a:latin typeface="JetBrains Mono"/>
              </a:rPr>
              <a:t>Router</a:t>
            </a:r>
            <a:r>
              <a:rPr lang="zh-CN" altLang="en-US" sz="1400" dirty="0">
                <a:effectLst/>
              </a:rPr>
              <a:t>操作耦合在同一个工作流中，但两类流程各阶段的工作差异很大，且联邦工作流本身就涉及</a:t>
            </a:r>
            <a:r>
              <a:rPr lang="en-US" altLang="zh-CN" sz="1400" dirty="0">
                <a:effectLst/>
                <a:latin typeface="JetBrains Mono"/>
              </a:rPr>
              <a:t>21</a:t>
            </a:r>
            <a:r>
              <a:rPr lang="zh-CN" altLang="en-US" sz="1400" dirty="0">
                <a:effectLst/>
              </a:rPr>
              <a:t>种场景，继续耦合会越来越难维护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AI不会替你做这种判断。只有你自己判断出"基础是歪的"，后面的工作才能走对方向。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方案设计与功能实现——库表、接口、工作流逐个击破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234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核心节奏：我定方向 → AI细化 → 我审核调整 → 再细化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210312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103120"/>
            <a:ext cx="347472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库表设计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否决AI推荐的方案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让AI给出几种改造方案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r>
              <a:rPr lang="en-US" sz="12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从中选定最合适的</a:t>
            </a:r>
            <a:r>
              <a:rPr lang="en-US" altLang="zh-CN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</a:t>
            </a:r>
            <a:r>
              <a:rPr lang="zh-CN" alt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确定表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细化需求，逐张表生成字段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我逐一审核调整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210312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2103120"/>
            <a:ext cx="347472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 接口设计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拆分"上帝接口"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我列接口职责和功能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566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AI设计出入参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我审核和优化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最终：16个接口，职责分明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0" y="2103120"/>
            <a:ext cx="34747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0" y="2103120"/>
            <a:ext cx="347472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2286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 工作流设计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拆分耦合的流程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先定工作流拆分方案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3566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再定每个Stage及其职责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023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逐个Stage梳理伪代码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12480" y="4480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审核无误后才生成代码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5623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核心经验：先定表结构 → 再定接口契约 → 再定工作流编排 → 最后才写代码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穿插讲解：Plan模式——复杂任务的结构化执行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Plan模式：AI先生成结构化执行计划 → </a:t>
            </a:r>
            <a:r>
              <a:rPr lang="en-US" sz="1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我审核调整</a:t>
            </a: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逐步执行 → 每步可回滚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联邦项目中使用了 11 个 Plan，形成一条完整的实现链路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108960"/>
            <a:ext cx="457200" cy="4572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先审计划再执行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审核子任务拆分是否合理、依赖关系是否正确，确认后再执行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80560" y="29260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3108960"/>
            <a:ext cx="457200" cy="4572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每步都可回滚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749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每个子任务是独立执行单元，出问题只回滚这一步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9600" y="2926080"/>
            <a:ext cx="34747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0" y="3108960"/>
            <a:ext cx="457200" cy="4572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5256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Plan之间可串联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37490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前一个Plan的产出成为后一个Plan的输入，形成递进式交付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Plan模式的本质 = "控节奏"——把大任务拆成有依赖关系的小任务，逐步推进，每步都可控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代码实现与质量把关——三层把关体系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核心工作方式：AI写代码 → 我做Review → 设计文档做验收标准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92024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20240"/>
            <a:ext cx="347472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第一层：逐步Review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把"一口气写完"变成"每一步都可控"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017520"/>
            <a:ext cx="3108960" cy="0"/>
          </a:xfrm>
          <a:prstGeom prst="line">
            <a:avLst/>
          </a:prstGeom>
          <a:noFill/>
          <a:ln w="6350">
            <a:solidFill>
              <a:srgbClr val="E0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上下文充分喂养（Rules+Skills+文档+参考代码）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931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逐个接口实现，而非一次性生成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每个流程写完立即Review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192024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1920240"/>
            <a:ext cx="3474720" cy="73152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第二层：效率技巧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把Review精力用在刀刃上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3108960" cy="0"/>
          </a:xfrm>
          <a:prstGeom prst="line">
            <a:avLst/>
          </a:prstGeom>
          <a:noFill/>
          <a:ln w="6350">
            <a:solidFill>
              <a:srgbClr val="E0E6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让AI先自查，过滤低级问题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931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用单测当"照妖镜"，暴露理解盲区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6344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聚焦Diff，不做全量阅读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0" y="1920240"/>
            <a:ext cx="34747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920240"/>
            <a:ext cx="3474720" cy="73152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2103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第三层：Gap分析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2560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最后一道防线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412480" y="3017520"/>
            <a:ext cx="3108960" cy="0"/>
          </a:xfrm>
          <a:prstGeom prst="line">
            <a:avLst/>
          </a:prstGeom>
          <a:noFill/>
          <a:ln w="6350">
            <a:solidFill>
              <a:srgbClr val="E0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3200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用设计文档做验收清单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3931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逐条对比代码实现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663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发现多个P0级遗漏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三层把关：第一层保证每一步写对，第二层提升发现问题的效率，第三层保证整体不遗漏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</a:t>
            </a:r>
            <a:r>
              <a:rPr lang="en-US" altLang="zh-CN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代码实现与质量把关</a:t>
            </a:r>
            <a:r>
              <a:rPr lang="en-US" altLang="zh-CN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Review中发现的AI典型问题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303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188720"/>
            <a:ext cx="5303520" cy="54864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4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典型问题1：看不到"隐藏的复杂性"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退出联邦逻辑中，AI漏掉了：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自动触发降级或解散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区分集群内/集群间联邦退化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留守方状态回退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AI觉得退出联邦 = "删除一条记录"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5303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188720"/>
            <a:ext cx="5303520" cy="54864"/>
          </a:xfrm>
          <a:prstGeom prst="rect">
            <a:avLst/>
          </a:prstGeom>
          <a:solidFill>
            <a:srgbClr val="EB8707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B87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典型问题2：忽略前置校验和依赖检查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"关闭联邦"时AI直接删记录，但实际必须先检查：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挂载表是否已清空？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Router是否已全部卸载？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跨集群关系是否已解除？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AI只关注"做什么"，不关注"做之前要确认什么"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Gap分析发现的P0级遗漏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754880"/>
          <a:ext cx="10698480" cy="1280160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P0 Gap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43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为什么AI会漏掉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跨集群Router仅监控本地NN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不理解跨集群场景下Router需感知所有集群NN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Router卸载EndPoint缺少状态更新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实现了卸载动作，但忘了更新数据库状态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解除联邦时配置清理不完整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只清理了主配置，遗漏了关联服务的配置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穿插讲解</a:t>
            </a:r>
            <a:r>
              <a:rPr lang="en-US" altLang="zh-CN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</a:t>
            </a:r>
            <a:r>
              <a:rPr lang="en-US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CodeBuddy</a:t>
            </a:r>
            <a:r>
              <a:rPr lang="zh-CN" alt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的上下文喂养体系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26</a:t>
            </a:r>
            <a:endParaRPr lang="en-US" sz="900" dirty="0"/>
          </a:p>
        </p:txBody>
      </p:sp>
      <p:sp>
        <p:nvSpPr>
          <p:cNvPr id="40" name="CoreFact"/>
          <p:cNvSpPr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200" b="1" dirty="0">
                <a:solidFill>
                  <a:srgbClr val="0052D9"/>
                </a:solidFill>
                <a:latin typeface="Calibri"/>
                <a:ea typeface="Microsoft YaHei"/>
              </a:rPr>
              <a:t>一个核心事实：LLM 没有记忆、没有文件系统</a:t>
            </a:r>
          </a:p>
        </p:txBody>
      </p:sp>
      <p:sp>
        <p:nvSpPr>
          <p:cNvPr id="41" name="CoreDesc"/>
          <p:cNvSpPr/>
          <p:nvPr/>
        </p:nvSpPr>
        <p:spPr>
          <a:xfrm>
            <a:off x="731520" y="164592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00" dirty="0">
                <a:solidFill>
                  <a:srgbClr val="333333"/>
                </a:solidFill>
                <a:latin typeface="Calibri"/>
                <a:ea typeface="Microsoft YaHei"/>
              </a:rPr>
              <a:t>它唯一能"看到"的东西，就是当前对话的上下文窗口中的文本。</a:t>
            </a:r>
          </a:p>
          <a:p>
            <a:pPr algn="l">
              <a:spcBef>
                <a:spcPts val="400"/>
              </a:spcBef>
            </a:pPr>
            <a:r>
              <a:rPr lang="zh-CN" sz="1400" dirty="0">
                <a:solidFill>
                  <a:srgbClr val="666666"/>
                </a:solidFill>
                <a:latin typeface="Calibri"/>
                <a:ea typeface="Microsoft YaHei"/>
              </a:rPr>
              <a:t>不在窗口里的信息 = 不存在。你项目有10万行代码，但AI只能看到你塞进窗口的那几千行。</a:t>
            </a:r>
          </a:p>
        </p:txBody>
      </p:sp>
      <p:sp>
        <p:nvSpPr>
          <p:cNvPr id="42" name="CorePoint"/>
          <p:cNvSpPr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00" b="1" dirty="0">
                <a:solidFill>
                  <a:srgbClr val="F44336"/>
                </a:solidFill>
                <a:latin typeface="Calibri"/>
                <a:ea typeface="Microsoft YaHei"/>
              </a:rPr>
              <a:t>"会喂上下文"的本质 = 管理AI的认知边界：往窗口里塞什么、什么时候塞、塞多少</a:t>
            </a:r>
          </a:p>
        </p:txBody>
      </p:sp>
      <p:sp>
        <p:nvSpPr>
          <p:cNvPr id="43" name="TableTitle"/>
          <p:cNvSpPr/>
          <p:nvPr/>
        </p:nvSpPr>
        <p:spPr>
          <a:xfrm>
            <a:off x="731520" y="30175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 b="1" dirty="0">
                <a:solidFill>
                  <a:srgbClr val="333333"/>
                </a:solidFill>
                <a:latin typeface="Calibri"/>
                <a:ea typeface="Microsoft YaHei"/>
              </a:rPr>
              <a:t>上下文六大来源，三种模式互补：</a:t>
            </a:r>
          </a:p>
        </p:txBody>
      </p:sp>
      <p:sp>
        <p:nvSpPr>
          <p:cNvPr id="44" name="TableHeader"/>
          <p:cNvSpPr/>
          <p:nvPr/>
        </p:nvSpPr>
        <p:spPr>
          <a:xfrm>
            <a:off x="731520" y="3383280"/>
            <a:ext cx="10698480" cy="36576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45" name="TH_来源"/>
          <p:cNvSpPr/>
          <p:nvPr/>
        </p:nvSpPr>
        <p:spPr>
          <a:xfrm>
            <a:off x="731520" y="33832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 dirty="0">
                <a:solidFill>
                  <a:srgbClr val="FFFFFF"/>
                </a:solidFill>
                <a:latin typeface="Calibri"/>
                <a:ea typeface="Microsoft YaHei"/>
              </a:rPr>
              <a:t>来源</a:t>
            </a:r>
          </a:p>
        </p:txBody>
      </p:sp>
      <p:sp>
        <p:nvSpPr>
          <p:cNvPr id="46" name="TH_加载方式"/>
          <p:cNvSpPr/>
          <p:nvPr/>
        </p:nvSpPr>
        <p:spPr>
          <a:xfrm>
            <a:off x="3474720" y="3383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 dirty="0">
                <a:solidFill>
                  <a:srgbClr val="FFFFFF"/>
                </a:solidFill>
                <a:latin typeface="Calibri"/>
                <a:ea typeface="Microsoft YaHei"/>
              </a:rPr>
              <a:t>加载方式</a:t>
            </a:r>
          </a:p>
        </p:txBody>
      </p:sp>
      <p:sp>
        <p:nvSpPr>
          <p:cNvPr id="47" name="TH_对应工具"/>
          <p:cNvSpPr/>
          <p:nvPr/>
        </p:nvSpPr>
        <p:spPr>
          <a:xfrm>
            <a:off x="7132320" y="338328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 dirty="0">
                <a:solidFill>
                  <a:srgbClr val="FFFFFF"/>
                </a:solidFill>
                <a:latin typeface="Calibri"/>
                <a:ea typeface="Microsoft YaHei"/>
              </a:rPr>
              <a:t>对应工具</a:t>
            </a:r>
          </a:p>
        </p:txBody>
      </p:sp>
      <p:sp>
        <p:nvSpPr>
          <p:cNvPr id="48" name="Row0Bg"/>
          <p:cNvSpPr/>
          <p:nvPr/>
        </p:nvSpPr>
        <p:spPr>
          <a:xfrm>
            <a:off x="731520" y="3749040"/>
            <a:ext cx="1069848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49" name="Row0C1"/>
          <p:cNvSpPr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 dirty="0">
                <a:solidFill>
                  <a:srgbClr val="333333"/>
                </a:solidFill>
                <a:latin typeface="Calibri"/>
                <a:ea typeface="Microsoft YaHei"/>
              </a:rPr>
              <a:t>Rules</a:t>
            </a:r>
          </a:p>
        </p:txBody>
      </p:sp>
      <p:sp>
        <p:nvSpPr>
          <p:cNvPr id="50" name="Row0C2"/>
          <p:cNvSpPr/>
          <p:nvPr/>
        </p:nvSpPr>
        <p:spPr>
          <a:xfrm>
            <a:off x="3474720" y="3749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333333"/>
                </a:solidFill>
                <a:latin typeface="Calibri"/>
                <a:ea typeface="Microsoft YaHei"/>
              </a:rPr>
              <a:t>对话开始时自动注入</a:t>
            </a:r>
          </a:p>
        </p:txBody>
      </p:sp>
      <p:sp>
        <p:nvSpPr>
          <p:cNvPr id="51" name="Row0C3"/>
          <p:cNvSpPr/>
          <p:nvPr/>
        </p:nvSpPr>
        <p:spPr>
          <a:xfrm>
            <a:off x="7132320" y="374904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.codebuddy/rules/</a:t>
            </a:r>
          </a:p>
        </p:txBody>
      </p:sp>
      <p:sp>
        <p:nvSpPr>
          <p:cNvPr id="52" name="Row1Bg"/>
          <p:cNvSpPr/>
          <p:nvPr/>
        </p:nvSpPr>
        <p:spPr>
          <a:xfrm>
            <a:off x="731520" y="4069080"/>
            <a:ext cx="106984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53" name="Row1C1"/>
          <p:cNvSpPr/>
          <p:nvPr/>
        </p:nvSpPr>
        <p:spPr>
          <a:xfrm>
            <a:off x="731520" y="40690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 dirty="0">
                <a:solidFill>
                  <a:srgbClr val="333333"/>
                </a:solidFill>
                <a:latin typeface="Calibri"/>
                <a:ea typeface="Microsoft YaHei"/>
              </a:rPr>
              <a:t>Skills</a:t>
            </a:r>
          </a:p>
        </p:txBody>
      </p:sp>
      <p:sp>
        <p:nvSpPr>
          <p:cNvPr id="54" name="Row1C2"/>
          <p:cNvSpPr/>
          <p:nvPr/>
        </p:nvSpPr>
        <p:spPr>
          <a:xfrm>
            <a:off x="3474720" y="40690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333333"/>
                </a:solidFill>
                <a:latin typeface="Calibri"/>
                <a:ea typeface="Microsoft YaHei"/>
              </a:rPr>
              <a:t>AI判断需要时按需加载</a:t>
            </a:r>
          </a:p>
        </p:txBody>
      </p:sp>
      <p:sp>
        <p:nvSpPr>
          <p:cNvPr id="55" name="Row1C3"/>
          <p:cNvSpPr/>
          <p:nvPr/>
        </p:nvSpPr>
        <p:spPr>
          <a:xfrm>
            <a:off x="7132320" y="406908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.codebuddy/skills/</a:t>
            </a:r>
          </a:p>
        </p:txBody>
      </p:sp>
      <p:sp>
        <p:nvSpPr>
          <p:cNvPr id="56" name="Row2Bg"/>
          <p:cNvSpPr/>
          <p:nvPr/>
        </p:nvSpPr>
        <p:spPr>
          <a:xfrm>
            <a:off x="731520" y="4389120"/>
            <a:ext cx="1069848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57" name="Row2C1"/>
          <p:cNvSpPr/>
          <p:nvPr/>
        </p:nvSpPr>
        <p:spPr>
          <a:xfrm>
            <a:off x="731520" y="43891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 dirty="0">
                <a:solidFill>
                  <a:srgbClr val="333333"/>
                </a:solidFill>
                <a:latin typeface="Calibri"/>
                <a:ea typeface="Microsoft YaHei"/>
              </a:rPr>
              <a:t>@file</a:t>
            </a:r>
          </a:p>
        </p:txBody>
      </p:sp>
      <p:sp>
        <p:nvSpPr>
          <p:cNvPr id="58" name="Row2C2"/>
          <p:cNvSpPr/>
          <p:nvPr/>
        </p:nvSpPr>
        <p:spPr>
          <a:xfrm>
            <a:off x="3474720" y="4389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333333"/>
                </a:solidFill>
                <a:latin typeface="Calibri"/>
                <a:ea typeface="Microsoft YaHei"/>
              </a:rPr>
              <a:t>用户手动引用</a:t>
            </a:r>
          </a:p>
        </p:txBody>
      </p:sp>
      <p:sp>
        <p:nvSpPr>
          <p:cNvPr id="59" name="Row2C3"/>
          <p:cNvSpPr/>
          <p:nvPr/>
        </p:nvSpPr>
        <p:spPr>
          <a:xfrm>
            <a:off x="7132320" y="43891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对话中 @文件名</a:t>
            </a:r>
          </a:p>
        </p:txBody>
      </p:sp>
      <p:sp>
        <p:nvSpPr>
          <p:cNvPr id="60" name="Row3Bg"/>
          <p:cNvSpPr/>
          <p:nvPr/>
        </p:nvSpPr>
        <p:spPr>
          <a:xfrm>
            <a:off x="731520" y="4709160"/>
            <a:ext cx="106984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61" name="Row3C1"/>
          <p:cNvSpPr/>
          <p:nvPr/>
        </p:nvSpPr>
        <p:spPr>
          <a:xfrm>
            <a:off x="731520" y="4709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 dirty="0">
                <a:solidFill>
                  <a:srgbClr val="333333"/>
                </a:solidFill>
                <a:latin typeface="Calibri"/>
                <a:ea typeface="Microsoft YaHei"/>
              </a:rPr>
              <a:t>MCP工具返回</a:t>
            </a:r>
          </a:p>
        </p:txBody>
      </p:sp>
      <p:sp>
        <p:nvSpPr>
          <p:cNvPr id="62" name="Row3C2"/>
          <p:cNvSpPr/>
          <p:nvPr/>
        </p:nvSpPr>
        <p:spPr>
          <a:xfrm>
            <a:off x="3474720" y="4709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333333"/>
                </a:solidFill>
                <a:latin typeface="Calibri"/>
                <a:ea typeface="Microsoft YaHei"/>
              </a:rPr>
              <a:t>AI主动调用外部系统</a:t>
            </a:r>
          </a:p>
        </p:txBody>
      </p:sp>
      <p:sp>
        <p:nvSpPr>
          <p:cNvPr id="63" name="Row3C3"/>
          <p:cNvSpPr/>
          <p:nvPr/>
        </p:nvSpPr>
        <p:spPr>
          <a:xfrm>
            <a:off x="7132320" y="47091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数据库/配置/日志查询</a:t>
            </a:r>
          </a:p>
        </p:txBody>
      </p:sp>
      <p:sp>
        <p:nvSpPr>
          <p:cNvPr id="64" name="Row4Bg"/>
          <p:cNvSpPr/>
          <p:nvPr/>
        </p:nvSpPr>
        <p:spPr>
          <a:xfrm>
            <a:off x="731520" y="5029200"/>
            <a:ext cx="10698480" cy="32004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65" name="Row4C1"/>
          <p:cNvSpPr/>
          <p:nvPr/>
        </p:nvSpPr>
        <p:spPr>
          <a:xfrm>
            <a:off x="731520" y="50292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 dirty="0">
                <a:solidFill>
                  <a:srgbClr val="333333"/>
                </a:solidFill>
                <a:latin typeface="Calibri"/>
                <a:ea typeface="Microsoft YaHei"/>
              </a:rPr>
              <a:t>用户消息+历史</a:t>
            </a:r>
          </a:p>
        </p:txBody>
      </p:sp>
      <p:sp>
        <p:nvSpPr>
          <p:cNvPr id="66" name="Row4C2"/>
          <p:cNvSpPr/>
          <p:nvPr/>
        </p:nvSpPr>
        <p:spPr>
          <a:xfrm>
            <a:off x="3474720" y="5029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333333"/>
                </a:solidFill>
                <a:latin typeface="Calibri"/>
                <a:ea typeface="Microsoft YaHei"/>
              </a:rPr>
              <a:t>自动携带</a:t>
            </a:r>
          </a:p>
        </p:txBody>
      </p:sp>
      <p:sp>
        <p:nvSpPr>
          <p:cNvPr id="67" name="Row4C3"/>
          <p:cNvSpPr/>
          <p:nvPr/>
        </p:nvSpPr>
        <p:spPr>
          <a:xfrm>
            <a:off x="7132320" y="502920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你说的话+之前的对话</a:t>
            </a:r>
          </a:p>
        </p:txBody>
      </p:sp>
      <p:sp>
        <p:nvSpPr>
          <p:cNvPr id="68" name="Row5Bg"/>
          <p:cNvSpPr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69" name="Row5C1"/>
          <p:cNvSpPr/>
          <p:nvPr/>
        </p:nvSpPr>
        <p:spPr>
          <a:xfrm>
            <a:off x="731520" y="534924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 dirty="0">
                <a:solidFill>
                  <a:srgbClr val="333333"/>
                </a:solidFill>
                <a:latin typeface="Calibri"/>
                <a:ea typeface="Microsoft YaHei"/>
              </a:rPr>
              <a:t>AI自身搜索</a:t>
            </a:r>
          </a:p>
        </p:txBody>
      </p:sp>
      <p:sp>
        <p:nvSpPr>
          <p:cNvPr id="70" name="Row5C2"/>
          <p:cNvSpPr/>
          <p:nvPr/>
        </p:nvSpPr>
        <p:spPr>
          <a:xfrm>
            <a:off x="3474720" y="53492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333333"/>
                </a:solidFill>
                <a:latin typeface="Calibri"/>
                <a:ea typeface="Microsoft YaHei"/>
              </a:rPr>
              <a:t>AI主动搜索代码库</a:t>
            </a:r>
          </a:p>
        </p:txBody>
      </p:sp>
      <p:sp>
        <p:nvSpPr>
          <p:cNvPr id="71" name="Row5C3"/>
          <p:cNvSpPr/>
          <p:nvPr/>
        </p:nvSpPr>
        <p:spPr>
          <a:xfrm>
            <a:off x="7132320" y="534924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codebase_search等</a:t>
            </a:r>
          </a:p>
        </p:txBody>
      </p:sp>
      <p:sp>
        <p:nvSpPr>
          <p:cNvPr id="72" name="Summary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 dirty="0">
                <a:solidFill>
                  <a:srgbClr val="0052D9"/>
                </a:solidFill>
                <a:latin typeface="Calibri"/>
                <a:ea typeface="Microsoft YaHei"/>
              </a:rPr>
              <a:t>三种</a:t>
            </a:r>
            <a:r>
              <a:rPr lang="zh-CN" sz="1400" b="1">
                <a:solidFill>
                  <a:srgbClr val="0052D9"/>
                </a:solidFill>
                <a:latin typeface="Calibri"/>
                <a:ea typeface="Microsoft YaHei"/>
              </a:rPr>
              <a:t>模式：</a:t>
            </a:r>
            <a:r>
              <a:rPr lang="zh-CN" altLang="en-US" sz="1400" b="1">
                <a:solidFill>
                  <a:srgbClr val="0052D9"/>
                </a:solidFill>
                <a:latin typeface="Calibri"/>
                <a:ea typeface="Microsoft YaHei"/>
              </a:rPr>
              <a:t>工具自动注入</a:t>
            </a:r>
            <a:r>
              <a:rPr lang="zh-CN" sz="1400" b="1">
                <a:solidFill>
                  <a:srgbClr val="0052D9"/>
                </a:solidFill>
                <a:latin typeface="Calibri"/>
                <a:ea typeface="Microsoft YaHei"/>
              </a:rPr>
              <a:t>（</a:t>
            </a:r>
            <a:r>
              <a:rPr lang="zh-CN" sz="1400" b="1" dirty="0">
                <a:solidFill>
                  <a:srgbClr val="0052D9"/>
                </a:solidFill>
                <a:latin typeface="Calibri"/>
                <a:ea typeface="Microsoft YaHei"/>
              </a:rPr>
              <a:t>Rules/</a:t>
            </a:r>
            <a:r>
              <a:rPr lang="en-US" altLang="zh-CN" sz="1400" b="1" dirty="0">
                <a:solidFill>
                  <a:srgbClr val="0052D9"/>
                </a:solidFill>
                <a:latin typeface="Calibri"/>
                <a:ea typeface="Microsoft YaHei"/>
              </a:rPr>
              <a:t>Skills,</a:t>
            </a:r>
            <a:r>
              <a:rPr lang="zh-CN" sz="1400" b="1" dirty="0">
                <a:solidFill>
                  <a:srgbClr val="0052D9"/>
                </a:solidFill>
                <a:latin typeface="Calibri"/>
                <a:ea typeface="Microsoft YaHei"/>
              </a:rPr>
              <a:t>历史自动注入）+ 用户投喂（@file手动引用）+ AI主动获取（MCP/搜索）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穿插讲解</a:t>
            </a:r>
            <a:r>
              <a:rPr lang="en-US" altLang="zh-CN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</a:t>
            </a:r>
            <a:r>
              <a:rPr lang="en-US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多层上下文如何协作</a:t>
            </a: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26</a:t>
            </a:r>
            <a:endParaRPr lang="en-US" sz="900" dirty="0"/>
          </a:p>
        </p:txBody>
      </p:sp>
      <p:sp>
        <p:nvSpPr>
          <p:cNvPr id="40" name="LeftTitle"/>
          <p:cNvSpPr/>
          <p:nvPr/>
        </p:nvSpPr>
        <p:spPr>
          <a:xfrm>
            <a:off x="731520" y="10972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600" b="1" dirty="0">
                <a:solidFill>
                  <a:srgbClr val="333333"/>
                </a:solidFill>
                <a:latin typeface="Calibri"/>
                <a:ea typeface="Microsoft YaHei"/>
              </a:rPr>
              <a:t>当你说"帮我改联邦配置渲染逻辑"时：</a:t>
            </a:r>
          </a:p>
        </p:txBody>
      </p:sp>
      <p:sp>
        <p:nvSpPr>
          <p:cNvPr id="41" name="L0Bg"/>
          <p:cNvSpPr/>
          <p:nvPr/>
        </p:nvSpPr>
        <p:spPr>
          <a:xfrm>
            <a:off x="731520" y="1645920"/>
            <a:ext cx="548640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42" name="L0Bar"/>
          <p:cNvSpPr/>
          <p:nvPr/>
        </p:nvSpPr>
        <p:spPr>
          <a:xfrm>
            <a:off x="731520" y="1645920"/>
            <a:ext cx="54864" cy="64008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43" name="L0T"/>
          <p:cNvSpPr/>
          <p:nvPr/>
        </p:nvSpPr>
        <p:spPr>
          <a:xfrm>
            <a:off x="914400" y="169164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 dirty="0">
                <a:solidFill>
                  <a:srgbClr val="0052D9"/>
                </a:solidFill>
                <a:latin typeface="Calibri"/>
                <a:ea typeface="Microsoft YaHei"/>
              </a:rPr>
              <a:t>第1层 Rules（项目背景）</a:t>
            </a:r>
          </a:p>
        </p:txBody>
      </p:sp>
      <p:sp>
        <p:nvSpPr>
          <p:cNvPr id="44" name="L0D"/>
          <p:cNvSpPr/>
          <p:nvPr/>
        </p:nvSpPr>
        <p:spPr>
          <a:xfrm>
            <a:off x="914400" y="196596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666666"/>
                </a:solidFill>
                <a:latin typeface="Calibri"/>
                <a:ea typeface="Microsoft YaHei"/>
              </a:rPr>
              <a:t>→ 知道代码在 te-stacks 目录、知道用 gorm v1</a:t>
            </a:r>
          </a:p>
        </p:txBody>
      </p:sp>
      <p:sp>
        <p:nvSpPr>
          <p:cNvPr id="45" name="L1Bg"/>
          <p:cNvSpPr/>
          <p:nvPr/>
        </p:nvSpPr>
        <p:spPr>
          <a:xfrm>
            <a:off x="731520" y="2377440"/>
            <a:ext cx="5486400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46" name="L1Bar"/>
          <p:cNvSpPr/>
          <p:nvPr/>
        </p:nvSpPr>
        <p:spPr>
          <a:xfrm>
            <a:off x="731520" y="2377440"/>
            <a:ext cx="54864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47" name="L1T"/>
          <p:cNvSpPr/>
          <p:nvPr/>
        </p:nvSpPr>
        <p:spPr>
          <a:xfrm>
            <a:off x="914400" y="242316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 dirty="0">
                <a:solidFill>
                  <a:srgbClr val="4CAF50"/>
                </a:solidFill>
                <a:latin typeface="Calibri"/>
                <a:ea typeface="Microsoft YaHei"/>
              </a:rPr>
              <a:t>第2层 Skills（领域知识）</a:t>
            </a:r>
          </a:p>
        </p:txBody>
      </p:sp>
      <p:sp>
        <p:nvSpPr>
          <p:cNvPr id="48" name="L1D"/>
          <p:cNvSpPr/>
          <p:nvPr/>
        </p:nvSpPr>
        <p:spPr>
          <a:xfrm>
            <a:off x="914400" y="26974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666666"/>
                </a:solidFill>
                <a:latin typeface="Calibri"/>
                <a:ea typeface="Microsoft YaHei"/>
              </a:rPr>
              <a:t>→ 知道 OpType 编码、知道配置渲染链路</a:t>
            </a:r>
          </a:p>
        </p:txBody>
      </p:sp>
      <p:sp>
        <p:nvSpPr>
          <p:cNvPr id="49" name="L2Bg"/>
          <p:cNvSpPr/>
          <p:nvPr/>
        </p:nvSpPr>
        <p:spPr>
          <a:xfrm>
            <a:off x="731520" y="3108960"/>
            <a:ext cx="5486400" cy="64008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50" name="L2Bar"/>
          <p:cNvSpPr/>
          <p:nvPr/>
        </p:nvSpPr>
        <p:spPr>
          <a:xfrm>
            <a:off x="731520" y="3108960"/>
            <a:ext cx="54864" cy="6400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51" name="L2T"/>
          <p:cNvSpPr/>
          <p:nvPr/>
        </p:nvSpPr>
        <p:spPr>
          <a:xfrm>
            <a:off x="914400" y="31546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 dirty="0">
                <a:solidFill>
                  <a:srgbClr val="FF9800"/>
                </a:solidFill>
                <a:latin typeface="Calibri"/>
                <a:ea typeface="Microsoft YaHei"/>
              </a:rPr>
              <a:t>第3层 @file（具体参考）</a:t>
            </a:r>
          </a:p>
        </p:txBody>
      </p:sp>
      <p:sp>
        <p:nvSpPr>
          <p:cNvPr id="52" name="L2D"/>
          <p:cNvSpPr/>
          <p:nvPr/>
        </p:nvSpPr>
        <p:spPr>
          <a:xfrm>
            <a:off x="914400" y="34290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666666"/>
                </a:solidFill>
                <a:latin typeface="Calibri"/>
                <a:ea typeface="Microsoft YaHei"/>
              </a:rPr>
              <a:t>→ 看到参考代码的具体实现</a:t>
            </a:r>
          </a:p>
        </p:txBody>
      </p:sp>
      <p:sp>
        <p:nvSpPr>
          <p:cNvPr id="53" name="L3Bg"/>
          <p:cNvSpPr/>
          <p:nvPr/>
        </p:nvSpPr>
        <p:spPr>
          <a:xfrm>
            <a:off x="731520" y="3840480"/>
            <a:ext cx="5486400" cy="6400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54" name="L3Bar"/>
          <p:cNvSpPr/>
          <p:nvPr/>
        </p:nvSpPr>
        <p:spPr>
          <a:xfrm>
            <a:off x="731520" y="3840480"/>
            <a:ext cx="54864" cy="6400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55" name="L3T"/>
          <p:cNvSpPr/>
          <p:nvPr/>
        </p:nvSpPr>
        <p:spPr>
          <a:xfrm>
            <a:off x="914400" y="388620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 dirty="0">
                <a:solidFill>
                  <a:srgbClr val="9C27B0"/>
                </a:solidFill>
                <a:latin typeface="Calibri"/>
                <a:ea typeface="Microsoft YaHei"/>
              </a:rPr>
              <a:t>第4层 用户指令</a:t>
            </a:r>
          </a:p>
        </p:txBody>
      </p:sp>
      <p:sp>
        <p:nvSpPr>
          <p:cNvPr id="56" name="L3D"/>
          <p:cNvSpPr/>
          <p:nvPr/>
        </p:nvSpPr>
        <p:spPr>
          <a:xfrm>
            <a:off x="914400" y="41605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666666"/>
                </a:solidFill>
                <a:latin typeface="Calibri"/>
                <a:ea typeface="Microsoft YaHei"/>
              </a:rPr>
              <a:t>→ 知道具体要做什么</a:t>
            </a:r>
          </a:p>
        </p:txBody>
      </p:sp>
      <p:sp>
        <p:nvSpPr>
          <p:cNvPr id="57" name="LeftConc"/>
          <p:cNvSpPr/>
          <p:nvPr/>
        </p:nvSpPr>
        <p:spPr>
          <a:xfrm>
            <a:off x="731520" y="46634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b="1" dirty="0">
                <a:solidFill>
                  <a:srgbClr val="0052D9"/>
                </a:solidFill>
                <a:latin typeface="Calibri"/>
                <a:ea typeface="Microsoft YaHei"/>
              </a:rPr>
              <a:t>→ 四层叠加，AI才能写出符合项目规范、</a:t>
            </a:r>
          </a:p>
          <a:p>
            <a:pPr algn="l"/>
            <a:r>
              <a:rPr lang="zh-CN" sz="1300" b="1" dirty="0">
                <a:solidFill>
                  <a:srgbClr val="0052D9"/>
                </a:solidFill>
                <a:latin typeface="Calibri"/>
                <a:ea typeface="Microsoft YaHei"/>
              </a:rPr>
              <a:t>   遵循领域规则、风格一致的代码</a:t>
            </a:r>
          </a:p>
        </p:txBody>
      </p:sp>
      <p:sp>
        <p:nvSpPr>
          <p:cNvPr id="58" name="RightTitle"/>
          <p:cNvSpPr/>
          <p:nvPr/>
        </p:nvSpPr>
        <p:spPr>
          <a:xfrm>
            <a:off x="6583680" y="10972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800" b="1" dirty="0">
                <a:solidFill>
                  <a:srgbClr val="F44336"/>
                </a:solidFill>
                <a:latin typeface="Calibri"/>
                <a:ea typeface="Microsoft YaHei"/>
              </a:rPr>
              <a:t>⚠️ 但窗口是有限的</a:t>
            </a:r>
          </a:p>
        </p:txBody>
      </p:sp>
      <p:sp>
        <p:nvSpPr>
          <p:cNvPr id="59" name="RightDesc"/>
          <p:cNvSpPr/>
          <p:nvPr/>
        </p:nvSpPr>
        <p:spPr>
          <a:xfrm>
            <a:off x="6583680" y="1554480"/>
            <a:ext cx="493776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dirty="0">
                <a:solidFill>
                  <a:srgbClr val="666666"/>
                </a:solidFill>
                <a:latin typeface="Calibri"/>
                <a:ea typeface="Microsoft YaHei"/>
              </a:rPr>
              <a:t>塞太多无关信息会挤掉有用信息，甚至导致AI"注意力分散"</a:t>
            </a:r>
          </a:p>
        </p:txBody>
      </p:sp>
      <p:sp>
        <p:nvSpPr>
          <p:cNvPr id="60" name="P0Bg"/>
          <p:cNvSpPr/>
          <p:nvPr/>
        </p:nvSpPr>
        <p:spPr>
          <a:xfrm>
            <a:off x="6583680" y="2194560"/>
            <a:ext cx="49377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61" name="P0Bar"/>
          <p:cNvSpPr/>
          <p:nvPr/>
        </p:nvSpPr>
        <p:spPr>
          <a:xfrm>
            <a:off x="6583680" y="2194560"/>
            <a:ext cx="54864" cy="731520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62" name="P0T"/>
          <p:cNvSpPr/>
          <p:nvPr/>
        </p:nvSpPr>
        <p:spPr>
          <a:xfrm>
            <a:off x="6857520" y="228600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 dirty="0">
                <a:solidFill>
                  <a:srgbClr val="0052D9"/>
                </a:solidFill>
                <a:latin typeface="Calibri"/>
                <a:ea typeface="Microsoft YaHei"/>
              </a:rPr>
              <a:t>Rules 要精简</a:t>
            </a:r>
          </a:p>
        </p:txBody>
      </p:sp>
      <p:sp>
        <p:nvSpPr>
          <p:cNvPr id="63" name="P0D"/>
          <p:cNvSpPr/>
          <p:nvPr/>
        </p:nvSpPr>
        <p:spPr>
          <a:xfrm>
            <a:off x="6857520" y="26060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666666"/>
                </a:solidFill>
                <a:latin typeface="Calibri"/>
                <a:ea typeface="Microsoft YaHei"/>
              </a:rPr>
              <a:t>持续占用窗口，内容控制在几十行</a:t>
            </a:r>
          </a:p>
        </p:txBody>
      </p:sp>
      <p:sp>
        <p:nvSpPr>
          <p:cNvPr id="64" name="P1Bg"/>
          <p:cNvSpPr/>
          <p:nvPr/>
        </p:nvSpPr>
        <p:spPr>
          <a:xfrm>
            <a:off x="6583680" y="3063240"/>
            <a:ext cx="49377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65" name="P1Bar"/>
          <p:cNvSpPr/>
          <p:nvPr/>
        </p:nvSpPr>
        <p:spPr>
          <a:xfrm>
            <a:off x="6583680" y="3063240"/>
            <a:ext cx="54864" cy="7315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66" name="P1T"/>
          <p:cNvSpPr/>
          <p:nvPr/>
        </p:nvSpPr>
        <p:spPr>
          <a:xfrm>
            <a:off x="6857520" y="315468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 dirty="0">
                <a:solidFill>
                  <a:srgbClr val="4CAF50"/>
                </a:solidFill>
                <a:latin typeface="Calibri"/>
                <a:ea typeface="Microsoft YaHei"/>
              </a:rPr>
              <a:t>Skills 要分层按需加载</a:t>
            </a:r>
          </a:p>
        </p:txBody>
      </p:sp>
      <p:sp>
        <p:nvSpPr>
          <p:cNvPr id="67" name="P1D"/>
          <p:cNvSpPr/>
          <p:nvPr/>
        </p:nvSpPr>
        <p:spPr>
          <a:xfrm>
            <a:off x="6857520" y="34747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666666"/>
                </a:solidFill>
                <a:latin typeface="Calibri"/>
                <a:ea typeface="Microsoft YaHei"/>
              </a:rPr>
              <a:t>不用时不占空间，需要时才加载</a:t>
            </a:r>
          </a:p>
        </p:txBody>
      </p:sp>
      <p:sp>
        <p:nvSpPr>
          <p:cNvPr id="68" name="P2Bg"/>
          <p:cNvSpPr/>
          <p:nvPr/>
        </p:nvSpPr>
        <p:spPr>
          <a:xfrm>
            <a:off x="6583680" y="3931920"/>
            <a:ext cx="49377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69" name="P2Bar"/>
          <p:cNvSpPr/>
          <p:nvPr/>
        </p:nvSpPr>
        <p:spPr>
          <a:xfrm>
            <a:off x="6583680" y="3931920"/>
            <a:ext cx="54864" cy="7315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70" name="P2T"/>
          <p:cNvSpPr/>
          <p:nvPr/>
        </p:nvSpPr>
        <p:spPr>
          <a:xfrm>
            <a:off x="6857520" y="40233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 dirty="0">
                <a:solidFill>
                  <a:srgbClr val="FF9800"/>
                </a:solidFill>
                <a:latin typeface="Calibri"/>
                <a:ea typeface="Microsoft YaHei"/>
              </a:rPr>
              <a:t>@file 只给最相关的2-3个</a:t>
            </a:r>
          </a:p>
        </p:txBody>
      </p:sp>
      <p:sp>
        <p:nvSpPr>
          <p:cNvPr id="71" name="P2D"/>
          <p:cNvSpPr/>
          <p:nvPr/>
        </p:nvSpPr>
        <p:spPr>
          <a:xfrm>
            <a:off x="6857520" y="43434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300" dirty="0">
                <a:solidFill>
                  <a:srgbClr val="666666"/>
                </a:solidFill>
                <a:latin typeface="Calibri"/>
                <a:ea typeface="Microsoft YaHei"/>
              </a:rPr>
              <a:t>精准投喂 &gt; 大量灌入</a:t>
            </a:r>
          </a:p>
        </p:txBody>
      </p:sp>
      <p:sp>
        <p:nvSpPr>
          <p:cNvPr id="72" name="BotSum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500" b="1" dirty="0">
                <a:solidFill>
                  <a:srgbClr val="0052D9"/>
                </a:solidFill>
                <a:latin typeface="Calibri"/>
                <a:ea typeface="Microsoft YaHei"/>
              </a:rPr>
              <a:t>💡 LLM的输出质量 = 上下文窗口中的信息质量。精准投喂 &gt; 大量灌入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穿插讲解</a:t>
            </a:r>
            <a:r>
              <a:rPr lang="en-US" altLang="zh-CN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</a:t>
            </a:r>
            <a:r>
              <a:rPr lang="en-US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CodeBuddy的六大上下文工具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26</a:t>
            </a:r>
            <a:endParaRPr lang="en-US" sz="900" dirty="0"/>
          </a:p>
        </p:txBody>
      </p:sp>
      <p:sp>
        <p:nvSpPr>
          <p:cNvPr id="7" name="Card_Rules_Bg"/>
          <p:cNvSpPr/>
          <p:nvPr/>
        </p:nvSpPr>
        <p:spPr>
          <a:xfrm>
            <a:off x="731520" y="118872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8" name="Card_Rules_Bar"/>
          <p:cNvSpPr/>
          <p:nvPr/>
        </p:nvSpPr>
        <p:spPr>
          <a:xfrm>
            <a:off x="731520" y="1188720"/>
            <a:ext cx="54864" cy="2194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9" name="Card_Rules_Title"/>
          <p:cNvSpPr/>
          <p:nvPr/>
        </p:nvSpPr>
        <p:spPr>
          <a:xfrm>
            <a:off x="1005840" y="1325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Calibri"/>
                <a:ea typeface="Microsoft YaHei"/>
              </a:rPr>
              <a:t>Rules</a:t>
            </a:r>
          </a:p>
        </p:txBody>
      </p:sp>
      <p:sp>
        <p:nvSpPr>
          <p:cNvPr id="10" name="Card_Rules_Sub"/>
          <p:cNvSpPr/>
          <p:nvPr/>
        </p:nvSpPr>
        <p:spPr>
          <a:xfrm>
            <a:off x="1005840" y="18288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dirty="0">
                <a:solidFill>
                  <a:srgbClr val="333333"/>
                </a:solidFill>
                <a:latin typeface="Calibri"/>
                <a:ea typeface="Microsoft YaHei"/>
              </a:rPr>
              <a:t>自动加载的项目规范</a:t>
            </a:r>
          </a:p>
        </p:txBody>
      </p:sp>
      <p:sp>
        <p:nvSpPr>
          <p:cNvPr id="11" name="Card_Rules_Desc"/>
          <p:cNvSpPr/>
          <p:nvPr/>
        </p:nvSpPr>
        <p:spPr>
          <a:xfrm>
            <a:off x="1005840" y="22860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一次配置，每次对话都受益</a:t>
            </a:r>
          </a:p>
        </p:txBody>
      </p:sp>
      <p:sp>
        <p:nvSpPr>
          <p:cNvPr id="12" name="Card_@file_Bg"/>
          <p:cNvSpPr/>
          <p:nvPr/>
        </p:nvSpPr>
        <p:spPr>
          <a:xfrm>
            <a:off x="4480560" y="118872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13" name="Card_@file_Bar"/>
          <p:cNvSpPr/>
          <p:nvPr/>
        </p:nvSpPr>
        <p:spPr>
          <a:xfrm>
            <a:off x="4480560" y="1188720"/>
            <a:ext cx="54864" cy="2194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14" name="Card_@file_Title"/>
          <p:cNvSpPr/>
          <p:nvPr/>
        </p:nvSpPr>
        <p:spPr>
          <a:xfrm>
            <a:off x="4754880" y="1325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Calibri"/>
                <a:ea typeface="Microsoft YaHei"/>
              </a:rPr>
              <a:t>@file</a:t>
            </a:r>
          </a:p>
        </p:txBody>
      </p:sp>
      <p:sp>
        <p:nvSpPr>
          <p:cNvPr id="15" name="Card_@file_Sub"/>
          <p:cNvSpPr/>
          <p:nvPr/>
        </p:nvSpPr>
        <p:spPr>
          <a:xfrm>
            <a:off x="4754880" y="18288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dirty="0">
                <a:solidFill>
                  <a:srgbClr val="333333"/>
                </a:solidFill>
                <a:latin typeface="Calibri"/>
                <a:ea typeface="Microsoft YaHei"/>
              </a:rPr>
              <a:t>最直接的上下文喂养</a:t>
            </a:r>
          </a:p>
        </p:txBody>
      </p:sp>
      <p:sp>
        <p:nvSpPr>
          <p:cNvPr id="16" name="Card_@file_Desc"/>
          <p:cNvSpPr/>
          <p:nvPr/>
        </p:nvSpPr>
        <p:spPr>
          <a:xfrm>
            <a:off x="4754880" y="22860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给文档不给口述，给完整日志不给截图</a:t>
            </a:r>
          </a:p>
        </p:txBody>
      </p:sp>
      <p:sp>
        <p:nvSpPr>
          <p:cNvPr id="17" name="Card_Skills_Bg"/>
          <p:cNvSpPr/>
          <p:nvPr/>
        </p:nvSpPr>
        <p:spPr>
          <a:xfrm>
            <a:off x="8229600" y="118872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18" name="Card_Skills_Bar"/>
          <p:cNvSpPr/>
          <p:nvPr/>
        </p:nvSpPr>
        <p:spPr>
          <a:xfrm>
            <a:off x="8229600" y="1188720"/>
            <a:ext cx="54864" cy="21945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19" name="Card_Skills_Title"/>
          <p:cNvSpPr/>
          <p:nvPr/>
        </p:nvSpPr>
        <p:spPr>
          <a:xfrm>
            <a:off x="8503920" y="132588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Calibri"/>
                <a:ea typeface="Microsoft YaHei"/>
              </a:rPr>
              <a:t>Skills</a:t>
            </a:r>
          </a:p>
        </p:txBody>
      </p:sp>
      <p:sp>
        <p:nvSpPr>
          <p:cNvPr id="20" name="Card_Skills_Sub"/>
          <p:cNvSpPr/>
          <p:nvPr/>
        </p:nvSpPr>
        <p:spPr>
          <a:xfrm>
            <a:off x="8503920" y="182880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dirty="0">
                <a:solidFill>
                  <a:srgbClr val="333333"/>
                </a:solidFill>
                <a:latin typeface="Calibri"/>
                <a:ea typeface="Microsoft YaHei"/>
              </a:rPr>
              <a:t>按需加载的领域知识包</a:t>
            </a:r>
          </a:p>
        </p:txBody>
      </p:sp>
      <p:sp>
        <p:nvSpPr>
          <p:cNvPr id="21" name="Card_Skills_Desc"/>
          <p:cNvSpPr/>
          <p:nvPr/>
        </p:nvSpPr>
        <p:spPr>
          <a:xfrm>
            <a:off x="8503920" y="22860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需要时才加载，内容可以很大</a:t>
            </a:r>
          </a:p>
        </p:txBody>
      </p:sp>
      <p:sp>
        <p:nvSpPr>
          <p:cNvPr id="22" name="Card_Commands_Bg"/>
          <p:cNvSpPr/>
          <p:nvPr/>
        </p:nvSpPr>
        <p:spPr>
          <a:xfrm>
            <a:off x="731520" y="3749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23" name="Card_Commands_Bar"/>
          <p:cNvSpPr/>
          <p:nvPr/>
        </p:nvSpPr>
        <p:spPr>
          <a:xfrm>
            <a:off x="731520" y="3749040"/>
            <a:ext cx="54864" cy="21945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24" name="Card_Commands_Title"/>
          <p:cNvSpPr/>
          <p:nvPr/>
        </p:nvSpPr>
        <p:spPr>
          <a:xfrm>
            <a:off x="1005840" y="3886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Calibri"/>
                <a:ea typeface="Microsoft YaHei"/>
              </a:rPr>
              <a:t>Commands</a:t>
            </a:r>
          </a:p>
        </p:txBody>
      </p:sp>
      <p:sp>
        <p:nvSpPr>
          <p:cNvPr id="25" name="Card_Commands_Sub"/>
          <p:cNvSpPr/>
          <p:nvPr/>
        </p:nvSpPr>
        <p:spPr>
          <a:xfrm>
            <a:off x="1005840" y="4389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dirty="0">
                <a:solidFill>
                  <a:srgbClr val="333333"/>
                </a:solidFill>
                <a:latin typeface="Calibri"/>
                <a:ea typeface="Microsoft YaHei"/>
              </a:rPr>
              <a:t>对话框里的快捷指令</a:t>
            </a:r>
          </a:p>
        </p:txBody>
      </p:sp>
      <p:sp>
        <p:nvSpPr>
          <p:cNvPr id="26" name="Card_Commands_Desc"/>
          <p:cNvSpPr/>
          <p:nvPr/>
        </p:nvSpPr>
        <p:spPr>
          <a:xfrm>
            <a:off x="1005840" y="48463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输入 / 触发预定义命令</a:t>
            </a:r>
          </a:p>
        </p:txBody>
      </p:sp>
      <p:sp>
        <p:nvSpPr>
          <p:cNvPr id="27" name="Card_Hooks_Bg"/>
          <p:cNvSpPr/>
          <p:nvPr/>
        </p:nvSpPr>
        <p:spPr>
          <a:xfrm>
            <a:off x="4480560" y="3749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28" name="Card_Hooks_Bar"/>
          <p:cNvSpPr/>
          <p:nvPr/>
        </p:nvSpPr>
        <p:spPr>
          <a:xfrm>
            <a:off x="4480560" y="3749040"/>
            <a:ext cx="54864" cy="21945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29" name="Card_Hooks_Title"/>
          <p:cNvSpPr/>
          <p:nvPr/>
        </p:nvSpPr>
        <p:spPr>
          <a:xfrm>
            <a:off x="4754880" y="3886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Calibri"/>
                <a:ea typeface="Microsoft YaHei"/>
              </a:rPr>
              <a:t>Hooks</a:t>
            </a:r>
          </a:p>
        </p:txBody>
      </p:sp>
      <p:sp>
        <p:nvSpPr>
          <p:cNvPr id="30" name="Card_Hooks_Sub"/>
          <p:cNvSpPr/>
          <p:nvPr/>
        </p:nvSpPr>
        <p:spPr>
          <a:xfrm>
            <a:off x="4754880" y="4389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dirty="0">
                <a:solidFill>
                  <a:srgbClr val="333333"/>
                </a:solidFill>
                <a:latin typeface="Calibri"/>
                <a:ea typeface="Microsoft YaHei"/>
              </a:rPr>
              <a:t>事件驱动的自动化</a:t>
            </a:r>
          </a:p>
        </p:txBody>
      </p:sp>
      <p:sp>
        <p:nvSpPr>
          <p:cNvPr id="31" name="Card_Hooks_Desc"/>
          <p:cNvSpPr/>
          <p:nvPr/>
        </p:nvSpPr>
        <p:spPr>
          <a:xfrm>
            <a:off x="4754880" y="48463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AI改完代码自动审查</a:t>
            </a:r>
          </a:p>
        </p:txBody>
      </p:sp>
      <p:sp>
        <p:nvSpPr>
          <p:cNvPr id="32" name="Card_MCP_Bg"/>
          <p:cNvSpPr/>
          <p:nvPr/>
        </p:nvSpPr>
        <p:spPr>
          <a:xfrm>
            <a:off x="8229600" y="3749040"/>
            <a:ext cx="3474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33" name="Card_MCP_Bar"/>
          <p:cNvSpPr/>
          <p:nvPr/>
        </p:nvSpPr>
        <p:spPr>
          <a:xfrm>
            <a:off x="8229600" y="3749040"/>
            <a:ext cx="54864" cy="21945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wrap="square" lIns="91440" tIns="45720" rIns="91440" bIns="45720" anchor="t"/>
          <a:lstStyle/>
          <a:p>
            <a:endParaRPr lang="zh-CN" dirty="0"/>
          </a:p>
        </p:txBody>
      </p:sp>
      <p:sp>
        <p:nvSpPr>
          <p:cNvPr id="34" name="Card_MCP_Title"/>
          <p:cNvSpPr/>
          <p:nvPr/>
        </p:nvSpPr>
        <p:spPr>
          <a:xfrm>
            <a:off x="8503920" y="3886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2400" b="1" dirty="0">
                <a:solidFill>
                  <a:srgbClr val="333333"/>
                </a:solidFill>
                <a:latin typeface="Calibri"/>
                <a:ea typeface="Microsoft YaHei"/>
              </a:rPr>
              <a:t>MCP</a:t>
            </a:r>
          </a:p>
        </p:txBody>
      </p:sp>
      <p:sp>
        <p:nvSpPr>
          <p:cNvPr id="35" name="Card_MCP_Sub"/>
          <p:cNvSpPr/>
          <p:nvPr/>
        </p:nvSpPr>
        <p:spPr>
          <a:xfrm>
            <a:off x="8503920" y="43891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dirty="0">
                <a:solidFill>
                  <a:srgbClr val="333333"/>
                </a:solidFill>
                <a:latin typeface="Calibri"/>
                <a:ea typeface="Microsoft YaHei"/>
              </a:rPr>
              <a:t>连接外部系统</a:t>
            </a:r>
          </a:p>
        </p:txBody>
      </p:sp>
      <p:sp>
        <p:nvSpPr>
          <p:cNvPr id="36" name="Card_MCP_Desc"/>
          <p:cNvSpPr/>
          <p:nvPr/>
        </p:nvSpPr>
        <p:spPr>
          <a:xfrm>
            <a:off x="8503920" y="48463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Calibri"/>
                <a:ea typeface="Microsoft YaHei"/>
              </a:rPr>
              <a:t>让AI直接操作数据库、查配置</a:t>
            </a:r>
          </a:p>
        </p:txBody>
      </p:sp>
      <p:sp>
        <p:nvSpPr>
          <p:cNvPr id="37" name="BottomSummary"/>
          <p:cNvSpPr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zh-CN" sz="1400" b="1" dirty="0">
                <a:solidFill>
                  <a:srgbClr val="0052D9"/>
                </a:solidFill>
                <a:latin typeface="Calibri"/>
                <a:ea typeface="Microsoft YaHei"/>
              </a:rPr>
              <a:t>Rules定规范 · @file喂参考 · Skills给知识 · Commands提效率 · Hooks做自动化 · MCP连外部系统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部署验证与问题修复——MCP让验证不离开IDE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= 让AI通过标准协议调用外部工具和系统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传统流程：</a:t>
            </a: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 → 终端 → 浏览器 → 数据库客户端 → IDE（不断切换，上下文丢失）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MCP加持：</a:t>
            </a: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全程在IDE内完成闭环（查数据 → 分析 → 定位 → 修复）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834640"/>
          <a:ext cx="1069848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MCP能力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实际用途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替代了什么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查询联邦DB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验证联邦组、集群成员、挂载表数据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手动登录数据库客户端执行SQL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查询集群配置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对比下发的hdfs-site.xml是否符合预期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SSH到节点上cat配置文件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查看服务状态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确认Router/NameNode重启后是否正常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SSH到节点查看进程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3152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实战案例：跨集群联邦Router路由失效排查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50292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MCP查挂载表 → 数据正确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MCP查Router配置 → 发现ZK地址只有当前集群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追溯到配置渲染脚本 → 渲染函数只取了本地集群ZK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根因定位：跨集群Router需要共享StateStore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知识沉淀——把项目经验变成可复用资产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Rules 到 Skills——知识的渐进式积累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033900"/>
              </p:ext>
            </p:extLst>
          </p:nvPr>
        </p:nvGraphicFramePr>
        <p:xfrm>
          <a:off x="731520" y="1737360"/>
          <a:ext cx="10698480" cy="9601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踩了什么坑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加了什么Rule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项目初期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AI不知道代码在哪个仓库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新增"项目基本说明"Rules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代码实现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AI</a:t>
                      </a:r>
                      <a:r>
                        <a:rPr lang="zh-CN" altLang="en-US" sz="1200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不知道联邦实现的整体设计</a:t>
                      </a: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CN" altLang="en-US" sz="1200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将联邦的整体设计放到</a:t>
                      </a:r>
                      <a:r>
                        <a:rPr lang="en-US" sz="1200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rules</a:t>
                      </a:r>
                      <a:r>
                        <a:rPr lang="zh-CN" altLang="en-US" sz="1200" dirty="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中</a:t>
                      </a:r>
                    </a:p>
                  </a:txBody>
                  <a:tcPr>
                    <a:lnL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31520" y="309589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最终沉淀：149篇文档 → 结构化 Skill 知识包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1520" y="3644538"/>
            <a:ext cx="530352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373597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tbds-federation/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            # 入口索引 + 核心规则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references/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project-guide.md  # 仓库/模块速查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data-model.md     # 5张表 + OpType编码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workflow-detail.md # 工作流全链路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commands.md       # 运维命令/SQL/API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309360" y="3644538"/>
            <a:ext cx="53035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83680" y="382741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的价值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83680" y="4284618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让AI具备项目记忆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下次迭代加载Skill → AI直接进入"老手模式"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知道表结构、理解状态流转、清楚配置链路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i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AI不怕笨，怕失忆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</a:t>
            </a:r>
            <a:r>
              <a:rPr lang="en-US" altLang="zh-CN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</a:t>
            </a:r>
            <a:r>
              <a:rPr lang="en-US" altLang="zh-CN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</a:t>
            </a:r>
            <a:r>
              <a:rPr lang="en-US" sz="2600" b="1" dirty="0" err="1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团队层面构建知识网络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303520" cy="3200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28016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team-skills/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hdfs-federation/     # ziwang 负责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cluster-deploy/      # 同学A 负责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SKILL.md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component-mgmt/      # 同学B 负责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...                  # 每个模块一个Skill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303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团队知识网络的价值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0" y="2057400"/>
            <a:ext cx="274320" cy="2743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迭代提速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模块有了Skill，下次迭代AI直接加载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2834640"/>
            <a:ext cx="274320" cy="2743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排查提效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Skill里沉淀了排查命令、验证SQL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3611880"/>
            <a:ext cx="274320" cy="2743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4088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协作降本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12480" y="35661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别人改你的模块，加载Skill快速建立认知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937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一个人沉淀一个模块，整个团队就拥有了所有模块的知识</a:t>
            </a:r>
            <a:endParaRPr lang="en-US" sz="18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800" b="1" i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——AI加载谁的Skill，就能秒变那个模块的专家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052D9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四个核心能力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定义问题 · 管理上下文 · 掌控过程 · 把关质量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828800" cy="45720"/>
          </a:xfrm>
          <a:prstGeom prst="rect">
            <a:avLst/>
          </a:prstGeom>
          <a:solidFill>
            <a:srgbClr val="0060F0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四个核心能力的完整框架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51760" cy="2011680"/>
          </a:xfrm>
          <a:prstGeom prst="rect">
            <a:avLst/>
          </a:prstGeom>
          <a:solidFill>
            <a:srgbClr val="2196F3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会定义问题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问题拆解精度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2651760" cy="2011680"/>
          </a:xfrm>
          <a:prstGeom prst="rect">
            <a:avLst/>
          </a:prstGeom>
          <a:solidFill>
            <a:srgbClr val="4CAF5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会管理上下文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信息供给质量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09360" y="1188720"/>
            <a:ext cx="2651760" cy="2011680"/>
          </a:xfrm>
          <a:prstGeom prst="rect">
            <a:avLst/>
          </a:prstGeom>
          <a:solidFill>
            <a:srgbClr val="FF98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936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会掌控过程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936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方向与节奏把控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15400" y="1737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235440" y="1188720"/>
            <a:ext cx="2651760" cy="2011680"/>
          </a:xfrm>
          <a:prstGeom prst="rect">
            <a:avLst/>
          </a:prstGeom>
          <a:solidFill>
            <a:srgbClr val="F44336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35440" y="1280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235440" y="1828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会把关质量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5440" y="23774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正确性与完整性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把问题拆到位 → 把信息喂到位 → 把方向控到位 → 把质量守到位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规律：②管理上下文 出现在每一个环节——它是贯穿全程的基础能力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会定义问题 + ② 会管理上下文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188720"/>
            <a:ext cx="530352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会定义问题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把模糊大问题变成AI能回答的具体小问题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54864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❓ 好的提问的关键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明确的目标 + 充分的约束 + 具体的参考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474720"/>
            <a:ext cx="54864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写代码场景对比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“参考@createFederation，实现退出联邦，处6种场景”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4480560"/>
            <a:ext cx="54864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做分析场景对比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“分析表能否支撑所有场景，重点看字段完整性”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188720"/>
            <a:ext cx="530352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会管理上下文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AI的能力上限取决于你给它的信息质量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2468880"/>
            <a:ext cx="5486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 + @file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配置规则文件 + 给参考代码，AI按项目风格写代码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474720"/>
            <a:ext cx="5486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 + MCP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知识包按需加载 + AI直接查DB/看日志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480560"/>
            <a:ext cx="5486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渐进式积累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Rules从1个文件成长到5个，AI理解越来越深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同样的AI，给它不同的问题和上下文，输出质量天差地别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掌控过程 + ④ 把关质量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188720"/>
            <a:ext cx="5303520" cy="54864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会掌控过程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先想清楚方向，再让AI干活，偏了及时拉回来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2468880"/>
            <a:ext cx="54864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"先审逻辑再写代码"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列职责 → AI设计 → 我审核 → AI生成代码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3474720"/>
            <a:ext cx="54864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判断"修补 vs 重写"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最关键的决策，AI不会替你做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5840" y="4480560"/>
            <a:ext cx="54864" cy="73152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Plan模式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11个Plan，80+子任务有序执行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188720"/>
            <a:ext cx="5303520" cy="54864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1371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43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会把关质量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三层递进，层层设防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83680" y="2468880"/>
            <a:ext cx="54864" cy="7315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第一层：逐步Review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分层生成、逐个接口Review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3474720"/>
            <a:ext cx="54864" cy="7315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第二层：效率技巧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AI自查 → 单测照妖镜 → Diff聚焦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4480560"/>
            <a:ext cx="54864" cy="73152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第三层：Gap分析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用设计文档做验收清单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052D9">
                    <a:alpha val="4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落地行动指南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你回去可以马上做的事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1828800" cy="45720"/>
          </a:xfrm>
          <a:prstGeom prst="rect">
            <a:avLst/>
          </a:prstGeom>
          <a:solidFill>
            <a:srgbClr val="0060F0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落地行动指南（上）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打好基础——让AI认识你的项目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2011680"/>
            <a:ext cx="320040" cy="32004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 .codebuddy/rules/项目说明.md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写清项目结构、核心模块、技术栈约束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3383280"/>
            <a:ext cx="320040" cy="32004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配置自动Code Review的Rules或Hook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AI改完代码后自动审查安全漏洞、空指针等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日常使用——养成高效协作习惯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83680" y="201168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1920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养成「@参考代码」的习惯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给文档不给口述，给完整日志不给截图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0" y="320040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0" y="3108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接手新模块时，先让AI生成现状文档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比自己一行行看代码快很多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4389120"/>
            <a:ext cx="320040" cy="32004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32320" y="4297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学习新技术时，规划"先广后深"路径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先总览再深入强相关模块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576"/>
            <a:ext cx="12188952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落地行动指南（下）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817352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188720"/>
            <a:ext cx="5303520" cy="4572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复杂任务——控节奏、保质量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05840" y="1874520"/>
            <a:ext cx="274320" cy="2743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1828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复杂任务使用Plan模式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AI先制定计划，你审核后再执行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697480"/>
            <a:ext cx="274320" cy="2743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6517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坚持"先审逻辑再写代码"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先设计出入参和伪代码，审核后再生成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3520440"/>
            <a:ext cx="274320" cy="2743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3474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AI写完代码后先让它自查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过滤低级问题后你再Review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4343400"/>
            <a:ext cx="274320" cy="2743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343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42976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代码写完后做Gap分析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让AI拿设计文档逐条对比代码实现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5166360"/>
            <a:ext cx="274320" cy="2743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63040" y="5120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配置MCP辅助验证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让AI直接查数据库、配置、日志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1188720"/>
            <a:ext cx="5303520" cy="4754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188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团队层面——构建知识网络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583680" y="2011680"/>
            <a:ext cx="320040" cy="320040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19202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项目结束后做知识沉淀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让AI基于所有文档提炼可复用的规则和模式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135446"/>
            <a:ext cx="320040" cy="320040"/>
          </a:xfrm>
          <a:prstGeom prst="ellipse">
            <a:avLst/>
          </a:prstGeom>
          <a:solidFill>
            <a:srgbClr val="9C27B0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313544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044006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按模块分工输出Skill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构建团队的AI协作基础设施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09360" y="4114800"/>
            <a:ext cx="5303520" cy="1828800"/>
          </a:xfrm>
          <a:prstGeom prst="rect">
            <a:avLst/>
          </a:prstGeom>
          <a:solidFill>
            <a:srgbClr val="EBF2FF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297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每个同学为自己负责的模块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输出一份结构化的Skill知识包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整个团队就形成了</a:t>
            </a:r>
            <a:endParaRPr lang="en-US" sz="14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03D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一个模块级的知识网络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052D9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751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AI的天花板不是它自身的能力，</a:t>
            </a:r>
            <a:endParaRPr lang="en-US" sz="3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而是你——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8819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把问题定义到什么精度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384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把上下文管理到什么深度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887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把过程掌控到什么力度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3907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把质量把关到什么细度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4985112"/>
            <a:ext cx="2743200" cy="36576"/>
          </a:xfrm>
          <a:prstGeom prst="rect">
            <a:avLst/>
          </a:prstGeom>
          <a:solidFill>
            <a:srgbClr val="0060F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1679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四个能力兼备，AI才能真正成为你的超级外挂。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052D9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34747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A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 · Q&amp;A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2177</Words>
  <Application>Microsoft Macintosh PowerPoint</Application>
  <PresentationFormat>宽屏</PresentationFormat>
  <Paragraphs>544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6" baseType="lpstr">
      <vt:lpstr>等线</vt:lpstr>
      <vt:lpstr>Microsoft YaHei</vt:lpstr>
      <vt:lpstr>JetBrains Mono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从HDFS联邦开发看AI编程助手的落地实践</dc:title>
  <dc:subject>PptxGenJS Presentation</dc:subject>
  <dc:creator>ziwang</dc:creator>
  <cp:lastModifiedBy>T187465</cp:lastModifiedBy>
  <cp:revision>18</cp:revision>
  <dcterms:created xsi:type="dcterms:W3CDTF">2026-04-02T05:51:11Z</dcterms:created>
  <dcterms:modified xsi:type="dcterms:W3CDTF">2026-04-02T09:52:01Z</dcterms:modified>
</cp:coreProperties>
</file>